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80" r:id="rId26"/>
    <p:sldId id="282" r:id="rId27"/>
    <p:sldId id="284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8229600" y="0"/>
            <a:ext cx="3968496" cy="6858000"/>
          </a:xfrm>
          <a:prstGeom prst="rect">
            <a:avLst/>
          </a:prstGeom>
          <a:solidFill>
            <a:srgbClr val="AF101A"/>
          </a:solidFill>
          <a:ln w="8890">
            <a:solidFill>
              <a:srgbClr val="AF1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170432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AF10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NeutralMean7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72237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025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BTC现货动态仓位策略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58368" y="3319272"/>
            <a:ext cx="6949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策略机制 · 多起点回测 · 可移植包验证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549640" y="1069848"/>
            <a:ext cx="3108960" cy="1783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8549640" y="2834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日预测聚合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549640" y="361188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48日趋势防守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58368" y="5852160"/>
            <a:ext cx="7132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2026年10月20日  |  历史研究候选，非独立盲测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30768" y="5120640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25% ↔ 99.5%</a:t>
            </a:r>
            <a:endParaRPr lang="en-US" sz="2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38912" y="393192"/>
            <a:ext cx="228600" cy="347472"/>
          </a:xfrm>
          <a:prstGeom prst="rect">
            <a:avLst/>
          </a:prstGeom>
          <a:solidFill>
            <a:srgbClr val="AF101A"/>
          </a:solidFill>
          <a:ln w="12700">
            <a:solidFill>
              <a:srgbClr val="AF1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265176"/>
            <a:ext cx="1078992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AF10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先看结果与证据边界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778240" y="932688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STRATEGY RESEARCH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10424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NeutralMean7  |  2026-10-20  |  开发期研究记录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0994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3429000" cy="1325880"/>
          </a:xfrm>
          <a:prstGeom prst="rect">
            <a:avLst/>
          </a:prstGeom>
          <a:solidFill>
            <a:srgbClr val="FFFFFF"/>
          </a:solidFill>
          <a:ln w="8890">
            <a:solidFill>
              <a:srgbClr val="E2E3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17904"/>
            <a:ext cx="3063240" cy="612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+435.10%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85800" y="224028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2023起点：基础累计收益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70832" y="1371600"/>
            <a:ext cx="3429000" cy="1325880"/>
          </a:xfrm>
          <a:prstGeom prst="rect">
            <a:avLst/>
          </a:prstGeom>
          <a:solidFill>
            <a:srgbClr val="FFFFFF"/>
          </a:solidFill>
          <a:ln w="8890">
            <a:solidFill>
              <a:srgbClr val="E2E3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1517904"/>
            <a:ext cx="3063240" cy="612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31.25%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553712" y="224028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基础：5分钟盯市最大回撤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0" y="1371600"/>
            <a:ext cx="3429000" cy="1325880"/>
          </a:xfrm>
          <a:prstGeom prst="rect">
            <a:avLst/>
          </a:prstGeom>
          <a:solidFill>
            <a:srgbClr val="FFFFFF"/>
          </a:solidFill>
          <a:ln w="8890">
            <a:solidFill>
              <a:srgbClr val="E2E3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1517904"/>
            <a:ext cx="3063240" cy="612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15/15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412480" y="224028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安装包 / 本地引擎对照通过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017520"/>
            <a:ext cx="5486400" cy="26060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3191256"/>
            <a:ext cx="50840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历史改善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04088" y="3813048"/>
            <a:ext cx="5084064" cy="16367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主区间目标：期末净值至少保留持有的95%，最大回撤不超过持有的80%。基础和压力情景均考察。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217920" y="3017520"/>
            <a:ext cx="5486400" cy="2606040"/>
          </a:xfrm>
          <a:prstGeom prst="rect">
            <a:avLst/>
          </a:prstGeom>
          <a:solidFill>
            <a:srgbClr val="FBF1F2"/>
          </a:solidFill>
          <a:ln w="8890">
            <a:solidFill>
              <a:srgbClr val="E2E3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9088" y="3191256"/>
            <a:ext cx="50840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证据仍有限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419088" y="3813048"/>
            <a:ext cx="5084064" cy="16367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2023年后行情已反复用于研究。更换起点属于敏感性复核，窗口大量重叠，不能当作多次独立样本外成功。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0352" y="6053328"/>
            <a:ext cx="11064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来源：multi_start_results.csv、all_engine_parity.json；收益已扣费与端点清仓费。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38912" y="393192"/>
            <a:ext cx="228600" cy="347472"/>
          </a:xfrm>
          <a:prstGeom prst="rect">
            <a:avLst/>
          </a:prstGeom>
          <a:solidFill>
            <a:srgbClr val="AF101A"/>
          </a:solidFill>
          <a:ln w="12700">
            <a:solidFill>
              <a:srgbClr val="AF1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265176"/>
            <a:ext cx="1078992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AF10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策略基本信息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778240" y="932688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STRATEGY RESEARCH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10424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NeutralMean7  |  2026-10-20  |  开发期研究记录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0994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3639312" cy="1947672"/>
          </a:xfrm>
          <a:prstGeom prst="rect">
            <a:avLst/>
          </a:prstGeom>
          <a:solidFill>
            <a:srgbClr val="FFFFFF"/>
          </a:solidFill>
          <a:ln w="8890">
            <a:solidFill>
              <a:srgbClr val="E2E3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499616"/>
            <a:ext cx="32369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交易对象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04088" y="2121408"/>
            <a:ext cx="3236976" cy="9784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Binance BTC/USDT现货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单币、只做多与持有现金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70832" y="1325880"/>
            <a:ext cx="3639312" cy="1947672"/>
          </a:xfrm>
          <a:prstGeom prst="rect">
            <a:avLst/>
          </a:prstGeom>
          <a:solidFill>
            <a:srgbClr val="FFFFFF"/>
          </a:solidFill>
          <a:ln w="8890">
            <a:solidFill>
              <a:srgbClr val="E2E3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499616"/>
            <a:ext cx="32369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资金与仓位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0" y="2121408"/>
            <a:ext cx="3236976" cy="9784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初始10,000 USDT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不借贷、不加杠杆，现金零收益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38744" y="1325880"/>
            <a:ext cx="3639312" cy="1947672"/>
          </a:xfrm>
          <a:prstGeom prst="rect">
            <a:avLst/>
          </a:prstGeom>
          <a:solidFill>
            <a:srgbClr val="FFFFFF"/>
          </a:solidFill>
          <a:ln w="8890">
            <a:solidFill>
              <a:srgbClr val="E2E3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39912" y="1499616"/>
            <a:ext cx="32369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数据与频率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39912" y="2121408"/>
            <a:ext cx="3236976" cy="9784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1小时主框架；已完成日线信号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每日一次目标调仓检查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3474720"/>
            <a:ext cx="3639312" cy="1947672"/>
          </a:xfrm>
          <a:prstGeom prst="rect">
            <a:avLst/>
          </a:prstGeom>
          <a:solidFill>
            <a:srgbClr val="FFFFFF"/>
          </a:solidFill>
          <a:ln w="8890">
            <a:solidFill>
              <a:srgbClr val="E2E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3648456"/>
            <a:ext cx="32369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信号结构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04088" y="4270248"/>
            <a:ext cx="3236976" cy="9784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冻结Ridge的7日预测均值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叠加48日均线缓冲趋势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70832" y="3474720"/>
            <a:ext cx="3639312" cy="1947672"/>
          </a:xfrm>
          <a:prstGeom prst="rect">
            <a:avLst/>
          </a:prstGeom>
          <a:solidFill>
            <a:srgbClr val="FFFFFF"/>
          </a:solidFill>
          <a:ln w="8890">
            <a:solidFill>
              <a:srgbClr val="E2E3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3648456"/>
            <a:ext cx="32369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基础执行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72000" y="4270248"/>
            <a:ext cx="3236976" cy="9784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UTC01:00；至少滞后1小时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当地时区不会改变UTC时点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38744" y="3474720"/>
            <a:ext cx="3639312" cy="1947672"/>
          </a:xfrm>
          <a:prstGeom prst="rect">
            <a:avLst/>
          </a:prstGeom>
          <a:solidFill>
            <a:srgbClr val="FFFFFF"/>
          </a:solidFill>
          <a:ln w="8890">
            <a:solidFill>
              <a:srgbClr val="E2E3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39912" y="3648456"/>
            <a:ext cx="32369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目标权重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439912" y="4270248"/>
            <a:ext cx="3236976" cy="9784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积极状态99.5%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防守状态25%（非固定BTC数量）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0352" y="6053328"/>
            <a:ext cx="11064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Neutral指去除每周固定更新日，并非市场中性；日常只在满足条件时成交。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38912" y="393192"/>
            <a:ext cx="228600" cy="347472"/>
          </a:xfrm>
          <a:prstGeom prst="rect">
            <a:avLst/>
          </a:prstGeom>
          <a:solidFill>
            <a:srgbClr val="AF101A"/>
          </a:solidFill>
          <a:ln w="12700">
            <a:solidFill>
              <a:srgbClr val="AF1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265176"/>
            <a:ext cx="1078992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AF10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从行情到订单的完整链路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778240" y="932688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STRATEGY RESEARCH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10424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NeutralMean7  |  2026-10-20  |  开发期研究记录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0994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2103120" cy="2468880"/>
          </a:xfrm>
          <a:prstGeom prst="rect">
            <a:avLst/>
          </a:prstGeom>
          <a:solidFill>
            <a:srgbClr val="FFFFFF"/>
          </a:solidFill>
          <a:ln w="8890">
            <a:solidFill>
              <a:srgbClr val="E2E3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728216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行情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04088" y="2350008"/>
            <a:ext cx="1700784" cy="14996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已完成1h K线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聚合已结束日线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642616" y="2468880"/>
            <a:ext cx="182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834640" y="1554480"/>
            <a:ext cx="2103120" cy="2468880"/>
          </a:xfrm>
          <a:prstGeom prst="rect">
            <a:avLst/>
          </a:prstGeom>
          <a:solidFill>
            <a:srgbClr val="FFFFFF"/>
          </a:solidFill>
          <a:ln w="8890">
            <a:solidFill>
              <a:srgbClr val="E2E3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35808" y="1728216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预测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035808" y="2350008"/>
            <a:ext cx="1700784" cy="14996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16个滞后特征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冻结模型逐日评分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74336" y="2468880"/>
            <a:ext cx="182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›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166360" y="1554480"/>
            <a:ext cx="2103120" cy="2468880"/>
          </a:xfrm>
          <a:prstGeom prst="rect">
            <a:avLst/>
          </a:prstGeom>
          <a:solidFill>
            <a:srgbClr val="FFFFFF"/>
          </a:solidFill>
          <a:ln w="8890">
            <a:solidFill>
              <a:srgbClr val="E2E3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67528" y="1728216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平滑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67528" y="2350008"/>
            <a:ext cx="1700784" cy="14996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最近7个预测均值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大于0视为偏多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06056" y="2468880"/>
            <a:ext cx="182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498080" y="1554480"/>
            <a:ext cx="2103120" cy="2468880"/>
          </a:xfrm>
          <a:prstGeom prst="rect">
            <a:avLst/>
          </a:prstGeom>
          <a:solidFill>
            <a:srgbClr val="FFFFFF"/>
          </a:solidFill>
          <a:ln w="8890">
            <a:solidFill>
              <a:srgbClr val="E2E3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99248" y="1728216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共识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699248" y="2350008"/>
            <a:ext cx="1700784" cy="14996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任一信号看多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目标25% / 99.5%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37776" y="2468880"/>
            <a:ext cx="182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›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829800" y="1554480"/>
            <a:ext cx="2103120" cy="2468880"/>
          </a:xfrm>
          <a:prstGeom prst="rect">
            <a:avLst/>
          </a:prstGeom>
          <a:solidFill>
            <a:srgbClr val="FFFFFF"/>
          </a:solidFill>
          <a:ln w="8890">
            <a:solidFill>
              <a:srgbClr val="E2E3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30968" y="1728216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执行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030968" y="2350008"/>
            <a:ext cx="1700784" cy="14996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滞后信息与风控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现金、3pp阈值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31520" y="4480560"/>
            <a:ext cx="10698480" cy="1005840"/>
          </a:xfrm>
          <a:prstGeom prst="rect">
            <a:avLst/>
          </a:prstGeom>
          <a:solidFill>
            <a:srgbClr val="FBF1F2"/>
          </a:solidFill>
          <a:ln w="8890">
            <a:solidFill>
              <a:srgbClr val="E8C6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1832" y="4681728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第二条信号：48日均线 ±2% 的趋势状态，与模型信号并行计算。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30352" y="6053328"/>
            <a:ext cx="11064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源代码：neutralmean7_bundle/kernel.py、NeutralMean7Portable.py；没有在线重新训练。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38912" y="393192"/>
            <a:ext cx="228600" cy="347472"/>
          </a:xfrm>
          <a:prstGeom prst="rect">
            <a:avLst/>
          </a:prstGeom>
          <a:solidFill>
            <a:srgbClr val="AF101A"/>
          </a:solidFill>
          <a:ln w="12700">
            <a:solidFill>
              <a:srgbClr val="AF1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265176"/>
            <a:ext cx="1078992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AF10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16个输入特征：仅用已知日线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778240" y="932688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STRATEGY RESEARCH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10424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NeutralMean7  |  2026-10-20  |  开发期研究记录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0994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594360" y="1371600"/>
          <a:ext cx="10972800" cy="3429000"/>
        </p:xfrm>
        <a:graphic>
          <a:graphicData uri="http://schemas.openxmlformats.org/drawingml/2006/table">
            <a:tbl>
              <a:tblPr/>
              <a:tblGrid>
                <a:gridCol w="1828800"/>
                <a:gridCol w="7955280"/>
                <a:gridCol w="1188720"/>
              </a:tblGrid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类别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10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特征组成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10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数量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101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动量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 / 7 / 21 / 63 / 126日对数动量，按已知波动缩放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趋势位置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相对20 / 60 / 200日均线的距离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技术状态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RSI14、MACD柱差、布林带20日标准分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风险结构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20日年化波动、20日下行平方收益占比、ATR14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成交与区间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成交量20日异常度、20日高低区间位置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94360" y="5120640"/>
            <a:ext cx="10972800" cy="603504"/>
          </a:xfrm>
          <a:prstGeom prst="rect">
            <a:avLst/>
          </a:prstGeom>
          <a:solidFill>
            <a:srgbClr val="FBF1F2"/>
          </a:solidFill>
          <a:ln w="8890">
            <a:solidFill>
              <a:srgbClr val="E8C6C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239512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极端特征截断至 ±10；标准化器只在训练样本拟合。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30352" y="6053328"/>
            <a:ext cx="11064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模型输入不是未来收益；预测得分也不是概率或可直接兑现的7日收益率。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38912" y="393192"/>
            <a:ext cx="228600" cy="347472"/>
          </a:xfrm>
          <a:prstGeom prst="rect">
            <a:avLst/>
          </a:prstGeom>
          <a:solidFill>
            <a:srgbClr val="AF101A"/>
          </a:solidFill>
          <a:ln w="12700">
            <a:solidFill>
              <a:srgbClr val="AF1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265176"/>
            <a:ext cx="1078992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AF10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冻结Ridge：训练与推断分离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778240" y="932688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STRATEGY RESEARCH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10424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NeutralMean7  |  2026-10-20  |  开发期研究记录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0994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5486400" cy="2743200"/>
          </a:xfrm>
          <a:prstGeom prst="rect">
            <a:avLst/>
          </a:prstGeom>
          <a:solidFill>
            <a:srgbClr val="FFFFFF"/>
          </a:solidFill>
          <a:ln w="8890">
            <a:solidFill>
              <a:srgbClr val="E2E3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499616"/>
            <a:ext cx="50840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训练：2018—2022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04088" y="2121408"/>
            <a:ext cx="5084064" cy="17739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预测标签为未来7日对数收益，经当时已知波动标准化并截断。训练截止前必须等标签完整兑现；StandardScaler与Ridge一起冻结。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1325880"/>
            <a:ext cx="5486400" cy="2743200"/>
          </a:xfrm>
          <a:prstGeom prst="rect">
            <a:avLst/>
          </a:prstGeom>
          <a:solidFill>
            <a:srgbClr val="FFFFFF"/>
          </a:solidFill>
          <a:ln w="8890">
            <a:solidFill>
              <a:srgbClr val="E2E3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9088" y="1499616"/>
            <a:ext cx="50840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推断：每日新增一个得分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419088" y="2121408"/>
            <a:ext cx="5084064" cy="17739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本轮不重训、不改变模型系数。每天只计算已结束日线的特征，然后将最近7个已知预测取均值；启动不足7个时使用已有有效预测。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85800" y="4526280"/>
            <a:ext cx="5029200" cy="777240"/>
          </a:xfrm>
          <a:prstGeom prst="rect">
            <a:avLst/>
          </a:prstGeom>
          <a:solidFill>
            <a:srgbClr val="AF101A"/>
          </a:solidFill>
          <a:ln w="8890">
            <a:solidFill>
              <a:srgbClr val="AF10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718304"/>
            <a:ext cx="4663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2018 → 2022  训练与冻结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080760" y="4526280"/>
            <a:ext cx="5440680" cy="777240"/>
          </a:xfrm>
          <a:prstGeom prst="rect">
            <a:avLst/>
          </a:prstGeom>
          <a:solidFill>
            <a:srgbClr val="E7E9EB"/>
          </a:solidFill>
          <a:ln w="8890">
            <a:solidFill>
              <a:srgbClr val="E7E9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4718304"/>
            <a:ext cx="50749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2023 → 2026  已观察开发评估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30352" y="6053328"/>
            <a:ext cx="11064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模型早于2023年训练，不代表NeutralMean7组合规则在2023年前就已确定。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38912" y="393192"/>
            <a:ext cx="228600" cy="347472"/>
          </a:xfrm>
          <a:prstGeom prst="rect">
            <a:avLst/>
          </a:prstGeom>
          <a:solidFill>
            <a:srgbClr val="AF101A"/>
          </a:solidFill>
          <a:ln w="12700">
            <a:solidFill>
              <a:srgbClr val="AF1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265176"/>
            <a:ext cx="1078992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AF10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趋势信号：48日均线的双向缓冲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778240" y="932688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STRATEGY RESEARCH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10424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NeutralMean7  |  2026-10-20  |  开发期研究记录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0994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1100" dirty="0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28800"/>
            <a:ext cx="8229600" cy="3017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525780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缓冲带内保留状态，减少均线附近来回切换。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961120" y="1371600"/>
            <a:ext cx="2743200" cy="1307592"/>
          </a:xfrm>
          <a:prstGeom prst="rect">
            <a:avLst/>
          </a:prstGeom>
          <a:solidFill>
            <a:srgbClr val="FFFFFF"/>
          </a:solidFill>
          <a:ln w="8890">
            <a:solidFill>
              <a:srgbClr val="E2E3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62288" y="1481328"/>
            <a:ext cx="234086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转为看多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162288" y="1929384"/>
            <a:ext cx="2340864" cy="6309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收盘 &gt; MA48 × 1.02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961120" y="2834640"/>
            <a:ext cx="2743200" cy="1307592"/>
          </a:xfrm>
          <a:prstGeom prst="rect">
            <a:avLst/>
          </a:prstGeom>
          <a:solidFill>
            <a:srgbClr val="FFFFFF"/>
          </a:solidFill>
          <a:ln w="8890">
            <a:solidFill>
              <a:srgbClr val="E2E3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62288" y="2944368"/>
            <a:ext cx="234086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转为防守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162288" y="3392424"/>
            <a:ext cx="2340864" cy="6309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收盘 &lt; MA48 × 0.98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961120" y="4297680"/>
            <a:ext cx="2743200" cy="1307592"/>
          </a:xfrm>
          <a:prstGeom prst="rect">
            <a:avLst/>
          </a:prstGeom>
          <a:solidFill>
            <a:srgbClr val="FFFFFF"/>
          </a:solidFill>
          <a:ln w="8890">
            <a:solidFill>
              <a:srgbClr val="E2E3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62288" y="4407408"/>
            <a:ext cx="234086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缓冲区内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9162288" y="4855464"/>
            <a:ext cx="2340864" cy="6309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保留此前趋势状态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30352" y="6053328"/>
            <a:ext cx="11064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图示为固定的2024年历史片段，仅解释指标；实际执行还需模型组合、滞后与风控。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38912" y="393192"/>
            <a:ext cx="228600" cy="347472"/>
          </a:xfrm>
          <a:prstGeom prst="rect">
            <a:avLst/>
          </a:prstGeom>
          <a:solidFill>
            <a:srgbClr val="AF101A"/>
          </a:solidFill>
          <a:ln w="12700">
            <a:solidFill>
              <a:srgbClr val="AF1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265176"/>
            <a:ext cx="1078992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AF10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信号如何映射成25%与99.5%仓位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778240" y="932688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STRATEGY RESEARCH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10424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NeutralMean7  |  2026-10-20  |  开发期研究记录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0994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731520" y="1417320"/>
          <a:ext cx="10698480" cy="3337560"/>
        </p:xfrm>
        <a:graphic>
          <a:graphicData uri="http://schemas.openxmlformats.org/drawingml/2006/table">
            <a:tbl>
              <a:tblPr/>
              <a:tblGrid>
                <a:gridCol w="3840480"/>
                <a:gridCol w="3200400"/>
                <a:gridCol w="3657600"/>
              </a:tblGrid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7日预测均值 &gt; 0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10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48日趋势看多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10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基础BTC目标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101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是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是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99.5%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是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否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99.5%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否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是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99.5%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否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否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25%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31520" y="5074920"/>
            <a:ext cx="10698480" cy="658368"/>
          </a:xfrm>
          <a:prstGeom prst="rect">
            <a:avLst/>
          </a:prstGeom>
          <a:solidFill>
            <a:srgbClr val="FBF1F2"/>
          </a:solidFill>
          <a:ln w="8890">
            <a:solidFill>
              <a:srgbClr val="E8C6C9"/>
            </a:solidFill>
            <a:prstDash val="solid"/>
          </a:ln>
        </p:spPr>
      </p:sp>
      <p:sp>
        <p:nvSpPr>
          <p:cNvPr id="7" name="Text 6"/>
          <p:cNvSpPr/>
          <p:nvPr/>
        </p:nvSpPr>
        <p:spPr>
          <a:xfrm>
            <a:off x="960120" y="5230368"/>
            <a:ext cx="1024128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逻辑是“或”：任一信号看多即可积极持仓；双弱时才防守。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530352" y="6053328"/>
            <a:ext cx="11064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表中是风控前的基础目标。禁加仓、现金、3pp阈值及最小订单会使实际权重偏离目标。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38912" y="393192"/>
            <a:ext cx="228600" cy="347472"/>
          </a:xfrm>
          <a:prstGeom prst="rect">
            <a:avLst/>
          </a:prstGeom>
          <a:solidFill>
            <a:srgbClr val="AF101A"/>
          </a:solidFill>
          <a:ln w="12700">
            <a:solidFill>
              <a:srgbClr val="AF1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265176"/>
            <a:ext cx="1078992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AF10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入场、调仓与出场：按目标配置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778240" y="932688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STRATEGY RESEARCH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10424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NeutralMean7  |  2026-10-20  |  开发期研究记录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0994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3657600" cy="4315968"/>
          </a:xfrm>
          <a:prstGeom prst="rect">
            <a:avLst/>
          </a:prstGeom>
          <a:solidFill>
            <a:srgbClr val="FFFFFF"/>
          </a:solidFill>
          <a:ln w="8890">
            <a:solidFill>
              <a:srgbClr val="E2E3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499616"/>
            <a:ext cx="32552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首次入场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04088" y="2121408"/>
            <a:ext cx="3255264" cy="33467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无持仓时，UTC01:00检查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已知信号、数据健康状态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以及是否禁止加仓。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双弱状态也可按25%买入，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不只在看多时建仓。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279392" y="1325880"/>
            <a:ext cx="3657600" cy="4315968"/>
          </a:xfrm>
          <a:prstGeom prst="rect">
            <a:avLst/>
          </a:prstGeom>
          <a:solidFill>
            <a:srgbClr val="FFFFFF"/>
          </a:solidFill>
          <a:ln w="8890">
            <a:solidFill>
              <a:srgbClr val="E2E3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499616"/>
            <a:ext cx="32552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持仓调整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480560" y="2121408"/>
            <a:ext cx="3255264" cy="33467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实际权重与目标差达到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3个百分点才调仓。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买入需预留费用与现金。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减仓受数量取整、最小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订单和最小剩余仓位限制。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065008" y="1325880"/>
            <a:ext cx="3657600" cy="4315968"/>
          </a:xfrm>
          <a:prstGeom prst="rect">
            <a:avLst/>
          </a:prstGeom>
          <a:solidFill>
            <a:srgbClr val="FFFFFF"/>
          </a:solidFill>
          <a:ln w="8890">
            <a:solidFill>
              <a:srgbClr val="E2E3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66176" y="1499616"/>
            <a:ext cx="32552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退出边界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266176" y="2121408"/>
            <a:ext cx="3255264" cy="33467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常规防守降至25%，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双弱并不完全清仓。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回测端点统一清仓扣费。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框架保留-99%灾难止损，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无日常固定15%止损。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0352" y="6053328"/>
            <a:ext cx="11064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25%是调仓目标，价格变化后会漂移；不是资金子账户，也不是实时硬下限。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38912" y="393192"/>
            <a:ext cx="228600" cy="347472"/>
          </a:xfrm>
          <a:prstGeom prst="rect">
            <a:avLst/>
          </a:prstGeom>
          <a:solidFill>
            <a:srgbClr val="AF101A"/>
          </a:solidFill>
          <a:ln w="12700">
            <a:solidFill>
              <a:srgbClr val="AF1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265176"/>
            <a:ext cx="1078992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AF10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时间顺序：完成日线后再执行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778240" y="932688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STRATEGY RESEARCH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10424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NeutralMean7  |  2026-10-20  |  开发期研究记录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0994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691640"/>
            <a:ext cx="3611880" cy="23774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3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865376"/>
            <a:ext cx="320954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T日 00—24时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95528" y="2487168"/>
            <a:ext cx="3209544" cy="14081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累积小时K线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不能提前使用全天收盘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242816" y="2560320"/>
            <a:ext cx="22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›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453128" y="1691640"/>
            <a:ext cx="3611880" cy="23774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3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54296" y="1865376"/>
            <a:ext cx="320954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T+1日 00:00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654296" y="2487168"/>
            <a:ext cx="3209544" cy="14081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T日日线结束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新预测、均值与趋势可计算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01584" y="2560320"/>
            <a:ext cx="22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›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8311896" y="1691640"/>
            <a:ext cx="3611880" cy="23774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3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13064" y="1865376"/>
            <a:ext cx="320954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T+1日 01:00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513064" y="2487168"/>
            <a:ext cx="3209544" cy="14081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使用至少1小时前已结束信息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检查目标并执行订单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31520" y="4572000"/>
            <a:ext cx="10698480" cy="1005840"/>
          </a:xfrm>
          <a:prstGeom prst="rect">
            <a:avLst/>
          </a:prstGeom>
          <a:solidFill>
            <a:srgbClr val="FBF1F2"/>
          </a:solidFill>
          <a:ln w="8890">
            <a:solidFill>
              <a:srgbClr val="E8C6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773168"/>
            <a:ext cx="102412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压力情景延迟到UTC02:00；不使用执行所在5分钟K线的事后成交量决定能否交易。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530352" y="6053328"/>
            <a:ext cx="11064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5分钟原始报价与成交量只用于事后订单审计；信号仅消费时间戳允许的已完成信息。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38912" y="393192"/>
            <a:ext cx="228600" cy="347472"/>
          </a:xfrm>
          <a:prstGeom prst="rect">
            <a:avLst/>
          </a:prstGeom>
          <a:solidFill>
            <a:srgbClr val="AF101A"/>
          </a:solidFill>
          <a:ln w="12700">
            <a:solidFill>
              <a:srgbClr val="AF1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265176"/>
            <a:ext cx="1078992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AF10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风控重点：限制暴跌后的继续加仓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778240" y="932688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STRATEGY RESEARCH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10424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NeutralMean7  |  2026-10-20  |  开发期研究记录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0994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5486400" cy="2011680"/>
          </a:xfrm>
          <a:prstGeom prst="rect">
            <a:avLst/>
          </a:prstGeom>
          <a:solidFill>
            <a:srgbClr val="FFFFFF"/>
          </a:solidFill>
          <a:ln w="8890">
            <a:solidFill>
              <a:srgbClr val="E2E3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499616"/>
            <a:ext cx="50840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冲击触发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04088" y="2121408"/>
            <a:ext cx="5084064" cy="10424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滞后观察到过去24小时下跌达到10%后，进入72小时禁止加仓状态；新的冲击会延续保护窗口。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1325880"/>
            <a:ext cx="5486400" cy="2011680"/>
          </a:xfrm>
          <a:prstGeom prst="rect">
            <a:avLst/>
          </a:prstGeom>
          <a:solidFill>
            <a:srgbClr val="FFFFFF"/>
          </a:solidFill>
          <a:ln w="8890">
            <a:solidFill>
              <a:srgbClr val="E2E3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9088" y="1499616"/>
            <a:ext cx="50840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保护期间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419088" y="2121408"/>
            <a:ext cx="5084064" cy="10424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仍允许按日信号减仓；不会仅因冲击就机械强制全部降到25%。资金已经满仓时也无法靠“禁加仓”消除原有风险。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2920" y="3611880"/>
            <a:ext cx="5486400" cy="2011680"/>
          </a:xfrm>
          <a:prstGeom prst="rect">
            <a:avLst/>
          </a:prstGeom>
          <a:solidFill>
            <a:srgbClr val="FFFFFF"/>
          </a:solidFill>
          <a:ln w="8890">
            <a:solidFill>
              <a:srgbClr val="E2E3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3785616"/>
            <a:ext cx="50840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敞口与现金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04088" y="4407408"/>
            <a:ext cx="5084064" cy="10424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现货只做多，不借贷、不加杠杆。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目标上限99.5%；加仓计费后核对现金。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不使用未来盈利或资金注入买入。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217920" y="3611880"/>
            <a:ext cx="5486400" cy="2011680"/>
          </a:xfrm>
          <a:prstGeom prst="rect">
            <a:avLst/>
          </a:prstGeom>
          <a:solidFill>
            <a:srgbClr val="FBF1F2"/>
          </a:solidFill>
          <a:ln w="8890">
            <a:solidFill>
              <a:srgbClr val="E2E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3785616"/>
            <a:ext cx="50840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没有回撤硬保证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419088" y="4407408"/>
            <a:ext cx="5084064" cy="10424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本候选没有整体80%年化波动预算。25%底仓仍会亏损，日频响应可能滞后，历史31%回撤不是未来风险上限。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0352" y="6053328"/>
            <a:ext cx="11064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风险按包含持仓浮亏的总资产计算；停机、市场跳空、价格冲击仍可能扩大损失。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38912" y="393192"/>
            <a:ext cx="228600" cy="347472"/>
          </a:xfrm>
          <a:prstGeom prst="rect">
            <a:avLst/>
          </a:prstGeom>
          <a:solidFill>
            <a:srgbClr val="AF101A"/>
          </a:solidFill>
          <a:ln w="12700">
            <a:solidFill>
              <a:srgbClr val="AF1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265176"/>
            <a:ext cx="1078992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AF10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回测详细设置：所有窗口保持同一规则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778240" y="932688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STRATEGY RESEARCH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10424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NeutralMean7  |  2026-10-20  |  开发期研究记录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0994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594360" y="1280160"/>
          <a:ext cx="10972800" cy="4526280"/>
        </p:xfrm>
        <a:graphic>
          <a:graphicData uri="http://schemas.openxmlformats.org/drawingml/2006/table">
            <a:tbl>
              <a:tblPr/>
              <a:tblGrid>
                <a:gridCol w="2103120"/>
                <a:gridCol w="8869680"/>
              </a:tblGrid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项目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10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本次统一设置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101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区间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7个起点；统一截至2026-10-20 07:00 UTC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资金 / 交易对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每次独立10,000 USDT；Binance BTC/USDT现货；现金零收益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模型与预热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沿用2018—2022冻结模型；4801根小时主框架预热，保留更早原始历史状态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基础 / 压力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单边0.15% / 0.30%；信息滞后1h / 2h；UTC01:00 / 02:00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框架与报价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Freqtrade 2026.9，1h主回测；全部订单另核对原始5m开盘价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风险与清算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5m开盘价盯市含浮亏；端点按价卖出扣费；另做2024年8月5m明细对照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基准 / 执行假设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BuyHold100在预设首次时点买入；无订单簿排队/冲击模型，不另叠加滑点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30352" y="6053328"/>
            <a:ext cx="11064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数据冻结副本与SHA256清单可复现；指标使用每次重置账户后的完整日历时间。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38912" y="393192"/>
            <a:ext cx="228600" cy="347472"/>
          </a:xfrm>
          <a:prstGeom prst="rect">
            <a:avLst/>
          </a:prstGeom>
          <a:solidFill>
            <a:srgbClr val="AF101A"/>
          </a:solidFill>
          <a:ln w="12700">
            <a:solidFill>
              <a:srgbClr val="AF1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265176"/>
            <a:ext cx="1078992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AF10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2023起点：基础与压力的完整区间结果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778240" y="932688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STRATEGY RESEARCH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10424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NeutralMean7  |  2026-10-20  |  开发期研究记录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0994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640080" y="1417320"/>
          <a:ext cx="10927080" cy="3063240"/>
        </p:xfrm>
        <a:graphic>
          <a:graphicData uri="http://schemas.openxmlformats.org/drawingml/2006/table">
            <a:tbl>
              <a:tblPr/>
              <a:tblGrid>
                <a:gridCol w="1188720"/>
                <a:gridCol w="2743200"/>
                <a:gridCol w="2377440"/>
                <a:gridCol w="2286000"/>
                <a:gridCol w="2331720"/>
              </a:tblGrid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情景</a:t>
                      </a:r>
                      <a:endParaRPr 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10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方案</a:t>
                      </a:r>
                      <a:endParaRPr 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10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累计收益</a:t>
                      </a:r>
                      <a:endParaRPr 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10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CAGR</a:t>
                      </a:r>
                      <a:endParaRPr 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10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最大回撤</a:t>
                      </a:r>
                      <a:endParaRPr 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101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基础</a:t>
                      </a:r>
                      <a:endParaRPr 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NeutralMean7</a:t>
                      </a:r>
                      <a:endParaRPr 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+435.10%</a:t>
                      </a:r>
                      <a:endParaRPr 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+55.42%</a:t>
                      </a:r>
                      <a:endParaRPr 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31.25%</a:t>
                      </a:r>
                      <a:endParaRPr 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基础</a:t>
                      </a:r>
                      <a:endParaRPr 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BuyHold100</a:t>
                      </a:r>
                      <a:endParaRPr 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+393.44%</a:t>
                      </a:r>
                      <a:endParaRPr 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+52.15%</a:t>
                      </a:r>
                      <a:endParaRPr 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53.84%</a:t>
                      </a:r>
                      <a:endParaRPr 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压力</a:t>
                      </a:r>
                      <a:endParaRPr 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NeutralMean7</a:t>
                      </a:r>
                      <a:endParaRPr 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+392.84%</a:t>
                      </a:r>
                      <a:endParaRPr 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+52.10%</a:t>
                      </a:r>
                      <a:endParaRPr 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31.72%</a:t>
                      </a:r>
                      <a:endParaRPr 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压力</a:t>
                      </a:r>
                      <a:endParaRPr 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BuyHold100</a:t>
                      </a:r>
                      <a:endParaRPr 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+391.31%</a:t>
                      </a:r>
                      <a:endParaRPr 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+51.97%</a:t>
                      </a:r>
                      <a:endParaRPr 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53.84%</a:t>
                      </a:r>
                      <a:endParaRPr 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4663440"/>
            <a:ext cx="5212080" cy="1325880"/>
          </a:xfrm>
          <a:prstGeom prst="rect">
            <a:avLst/>
          </a:prstGeom>
          <a:solidFill>
            <a:srgbClr val="FFFFFF"/>
          </a:solidFill>
          <a:ln w="8890">
            <a:solidFill>
              <a:srgbClr val="E2E3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4809744"/>
            <a:ext cx="4846320" cy="612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108.4%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868680" y="553212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基础：期末净值相对持有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17920" y="4663440"/>
            <a:ext cx="5212080" cy="1325880"/>
          </a:xfrm>
          <a:prstGeom prst="rect">
            <a:avLst/>
          </a:prstGeom>
          <a:solidFill>
            <a:srgbClr val="FFFFFF"/>
          </a:solidFill>
          <a:ln w="8890">
            <a:solidFill>
              <a:srgbClr val="E2E3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4809744"/>
            <a:ext cx="4846320" cy="612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42.0%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6400800" y="553212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基础：最大回撤相对下降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38912" y="393192"/>
            <a:ext cx="228600" cy="347472"/>
          </a:xfrm>
          <a:prstGeom prst="rect">
            <a:avLst/>
          </a:prstGeom>
          <a:solidFill>
            <a:srgbClr val="AF101A"/>
          </a:solidFill>
          <a:ln w="12700">
            <a:solidFill>
              <a:srgbClr val="AF1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265176"/>
            <a:ext cx="1078992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AF10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起点 2023-01-01：基础与压力净值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778240" y="932688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ALL STARTS / NO PARAMETER RETUNING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10424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NeutralMean7  |  2026-10-20  |  开发期研究记录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0994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</a:t>
            </a:r>
            <a:endParaRPr lang="en-US" sz="1100" dirty="0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11292840" cy="43616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669280"/>
            <a:ext cx="10927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目标判定：基础 通过   |   压力 通过   |   每次重置10,000 USDT，使用此前可用历史。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30352" y="6053328"/>
            <a:ext cx="11064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共同终点2026-10-20 07:00 UTC；5分钟开盘价盯市、含费用与终点清仓；曲线初始净值=1。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38912" y="393192"/>
            <a:ext cx="228600" cy="347472"/>
          </a:xfrm>
          <a:prstGeom prst="rect">
            <a:avLst/>
          </a:prstGeom>
          <a:solidFill>
            <a:srgbClr val="AF101A"/>
          </a:solidFill>
          <a:ln w="12700">
            <a:solidFill>
              <a:srgbClr val="AF1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265176"/>
            <a:ext cx="1078992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AF10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起点 2023-07-01：基础与压力净值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778240" y="932688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ALL STARTS / NO PARAMETER RETUNING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10424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NeutralMean7  |  2026-10-20  |  开发期研究记录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0994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</a:t>
            </a:r>
            <a:endParaRPr lang="en-US" sz="1100" dirty="0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11292840" cy="43616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669280"/>
            <a:ext cx="10927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目标判定：基础 通过   |   压力 通过   |   每次重置10,000 USDT，使用此前可用历史。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30352" y="6053328"/>
            <a:ext cx="11064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共同终点2026-10-20 07:00 UTC；5分钟开盘价盯市、含费用与终点清仓；曲线初始净值=1。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38912" y="393192"/>
            <a:ext cx="228600" cy="347472"/>
          </a:xfrm>
          <a:prstGeom prst="rect">
            <a:avLst/>
          </a:prstGeom>
          <a:solidFill>
            <a:srgbClr val="AF101A"/>
          </a:solidFill>
          <a:ln w="12700">
            <a:solidFill>
              <a:srgbClr val="AF1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265176"/>
            <a:ext cx="1078992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AF10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起点 2024-01-01：基础与压力净值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778240" y="932688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ALL STARTS / NO PARAMETER RETUNING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10424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NeutralMean7  |  2026-10-20  |  开发期研究记录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0994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</a:t>
            </a:r>
            <a:endParaRPr lang="en-US" sz="1100" dirty="0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11292840" cy="43616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669280"/>
            <a:ext cx="10927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目标判定：基础 通过   |   压力 通过   |   每次重置10,000 USDT，使用此前可用历史。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30352" y="6053328"/>
            <a:ext cx="11064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共同终点2026-10-20 07:00 UTC；5分钟开盘价盯市、含费用与终点清仓；曲线初始净值=1。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38912" y="393192"/>
            <a:ext cx="228600" cy="347472"/>
          </a:xfrm>
          <a:prstGeom prst="rect">
            <a:avLst/>
          </a:prstGeom>
          <a:solidFill>
            <a:srgbClr val="AF101A"/>
          </a:solidFill>
          <a:ln w="12700">
            <a:solidFill>
              <a:srgbClr val="AF1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265176"/>
            <a:ext cx="1078992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AF10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起点 2024-07-01：基础与压力净值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778240" y="932688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ALL STARTS / NO PARAMETER RETUNING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10424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NeutralMean7  |  2026-10-20  |  开发期研究记录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0994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17</a:t>
            </a:r>
            <a:endParaRPr lang="en-US" sz="1100" dirty="0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11292840" cy="43616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669280"/>
            <a:ext cx="10927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目标判定：基础 通过   |   压力 通过   |   每次重置10,000 USDT，使用此前可用历史。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30352" y="6053328"/>
            <a:ext cx="11064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共同终点2026-10-20 07:00 UTC；5分钟开盘价盯市、含费用与终点清仓；曲线初始净值=1。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38912" y="393192"/>
            <a:ext cx="228600" cy="347472"/>
          </a:xfrm>
          <a:prstGeom prst="rect">
            <a:avLst/>
          </a:prstGeom>
          <a:solidFill>
            <a:srgbClr val="AF101A"/>
          </a:solidFill>
          <a:ln w="12700">
            <a:solidFill>
              <a:srgbClr val="AF1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265176"/>
            <a:ext cx="1078992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AF10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起点 2025-01-01：基础与压力净值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778240" y="932688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ALL STARTS / NO PARAMETER RETUNING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10424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NeutralMean7  |  2026-10-20  |  开发期研究记录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0994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18</a:t>
            </a:r>
            <a:endParaRPr lang="en-US" sz="1100" dirty="0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11292840" cy="43616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669280"/>
            <a:ext cx="10927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目标判定：基础 通过   |   压力 通过   |   每次重置10,000 USDT，使用此前可用历史。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30352" y="6053328"/>
            <a:ext cx="11064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共同终点2026-10-20 07:00 UTC；5分钟开盘价盯市、含费用与终点清仓；曲线初始净值=1。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38912" y="393192"/>
            <a:ext cx="228600" cy="347472"/>
          </a:xfrm>
          <a:prstGeom prst="rect">
            <a:avLst/>
          </a:prstGeom>
          <a:solidFill>
            <a:srgbClr val="AF101A"/>
          </a:solidFill>
          <a:ln w="12700">
            <a:solidFill>
              <a:srgbClr val="AF1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265176"/>
            <a:ext cx="1078992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AF10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起点 2025-07-01：基础与压力净值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778240" y="932688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ALL STARTS / NO PARAMETER RETUNING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10424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NeutralMean7  |  2026-10-20  |  开发期研究记录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0994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19</a:t>
            </a:r>
            <a:endParaRPr lang="en-US" sz="1100" dirty="0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11292840" cy="43616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669280"/>
            <a:ext cx="10927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目标判定：基础 通过   |   压力 通过   |   每次重置10,000 USDT，使用此前可用历史。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30352" y="6053328"/>
            <a:ext cx="11064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共同终点2026-10-20 07:00 UTC；5分钟开盘价盯市、含费用与终点清仓；曲线初始净值=1。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38912" y="393192"/>
            <a:ext cx="228600" cy="347472"/>
          </a:xfrm>
          <a:prstGeom prst="rect">
            <a:avLst/>
          </a:prstGeom>
          <a:solidFill>
            <a:srgbClr val="AF101A"/>
          </a:solidFill>
          <a:ln w="12700">
            <a:solidFill>
              <a:srgbClr val="AF1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265176"/>
            <a:ext cx="1078992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AF10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起点 2026-01-01：基础与压力净值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778240" y="932688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ALL STARTS / NO PARAMETER RETUNING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10424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NeutralMean7  |  2026-10-20  |  开发期研究记录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0994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</a:t>
            </a:r>
            <a:endParaRPr lang="en-US" sz="1100" dirty="0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11292840" cy="43616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669280"/>
            <a:ext cx="10927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目标判定：基础 通过   |   压力 通过   |   每次重置10,000 USDT，使用此前可用历史。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30352" y="6053328"/>
            <a:ext cx="11064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共同终点2026-10-20 07:00 UTC；5分钟开盘价盯市、含费用与终点清仓；曲线初始净值=1。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38912" y="393192"/>
            <a:ext cx="228600" cy="347472"/>
          </a:xfrm>
          <a:prstGeom prst="rect">
            <a:avLst/>
          </a:prstGeom>
          <a:solidFill>
            <a:srgbClr val="AF101A"/>
          </a:solidFill>
          <a:ln w="12700">
            <a:solidFill>
              <a:srgbClr val="AF1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265176"/>
            <a:ext cx="1078992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AF10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7个起点：期末收益保留与回撤比例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778240" y="932688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STRATEGY RESEARCH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10424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NeutralMean7  |  2026-10-20  |  开发期研究记录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0994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21</a:t>
            </a:r>
            <a:endParaRPr lang="en-US" sz="1100" dirty="0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11201400" cy="42428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565099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预先目标：净值保留 ≥95%，回撤比例 ≤80%。基础 7/7 通过，压力 7/7 通过。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30352" y="6053328"/>
            <a:ext cx="11064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每个窗口均保留。7个起点共享大量行情，同终点成功比例不能当作未来成功概率。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38912" y="393192"/>
            <a:ext cx="228600" cy="347472"/>
          </a:xfrm>
          <a:prstGeom prst="rect">
            <a:avLst/>
          </a:prstGeom>
          <a:solidFill>
            <a:srgbClr val="AF101A"/>
          </a:solidFill>
          <a:ln w="12700">
            <a:solidFill>
              <a:srgbClr val="AF1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265176"/>
            <a:ext cx="1078992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AF10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多起点指标汇总：不隐藏较差窗口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778240" y="932688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STRATEGY RESEARCH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10424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NeutralMean7  |  2026-10-20  |  开发期研究记录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0994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22</a:t>
            </a:r>
            <a:endParaRPr lang="en-US" sz="1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/>
        </p:nvGraphicFramePr>
        <p:xfrm>
          <a:off x="502920" y="1371600"/>
          <a:ext cx="11201400" cy="4480560"/>
        </p:xfrm>
        <a:graphic>
          <a:graphicData uri="http://schemas.openxmlformats.org/drawingml/2006/table">
            <a:tbl>
              <a:tblPr/>
              <a:tblGrid>
                <a:gridCol w="1143000"/>
                <a:gridCol w="2514600"/>
                <a:gridCol w="2514600"/>
                <a:gridCol w="2514600"/>
                <a:gridCol w="2514600"/>
              </a:tblGrid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起点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10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基础收益 / 持有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10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压力收益 / 持有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10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基础回撤 / 持有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10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压力回撤 / 持有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101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2023-01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435.1 / 393.4%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392.8 / 391.3%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31.2 / 53.8%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31.7 / 53.8%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2023-07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226.5 / 167.7%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207.6 / 167.1%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31.2 / 53.8%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31.7 / 53.8%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2024-01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129.2 / 92.0%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116.2 / 90.8%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31.2 / 53.8%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31.7 / 53.8%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2024-07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84.3 / 29.6%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73.2 / 27.8%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30.1 / 53.8%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31.7 / 53.8%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2025-01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23.0 / -13.6%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17.5 / -13.1%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30.1 / 53.8%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31.7 / 53.8%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2025-07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7.9 / -24.0%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5.2 / -24.2%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30.1 / 53.8%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31.7 / 53.8%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2026-01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18.9 / -7.1%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17.7 / -7.6%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21.4 / 40.5%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21.9 / 40.5%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30352" y="6053328"/>
            <a:ext cx="11064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收益为累计账户净收益；回撤是各自窗口内峰谷跌幅。末端收益相近不等于中途始终跟随持有。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38912" y="393192"/>
            <a:ext cx="228600" cy="347472"/>
          </a:xfrm>
          <a:prstGeom prst="rect">
            <a:avLst/>
          </a:prstGeom>
          <a:solidFill>
            <a:srgbClr val="AF101A"/>
          </a:solidFill>
          <a:ln w="12700">
            <a:solidFill>
              <a:srgbClr val="AF1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265176"/>
            <a:ext cx="1078992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AF10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过拟合与风险：仍然需要独立前向验证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778240" y="932688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STRATEGY RESEARCH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10424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NeutralMean7  |  2026-10-20  |  开发期研究记录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0994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5486400" cy="1965960"/>
          </a:xfrm>
          <a:prstGeom prst="rect">
            <a:avLst/>
          </a:prstGeom>
          <a:solidFill>
            <a:srgbClr val="FFFFFF"/>
          </a:solidFill>
          <a:ln w="8890">
            <a:solidFill>
              <a:srgbClr val="E2E3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499616"/>
            <a:ext cx="50840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重复研究的样本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04088" y="2121408"/>
            <a:ext cx="5084064" cy="9966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2023年后价格已在此前多轮研究中反复查看。14个窗口不是14个独立实验，不能据其结果声称统计上稳定超额收益。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1325880"/>
            <a:ext cx="5486400" cy="1965960"/>
          </a:xfrm>
          <a:prstGeom prst="rect">
            <a:avLst/>
          </a:prstGeom>
          <a:solidFill>
            <a:srgbClr val="FFFFFF"/>
          </a:solidFill>
          <a:ln w="8890">
            <a:solidFill>
              <a:srgbClr val="E2E3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9088" y="1499616"/>
            <a:ext cx="50840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参数与终点敏感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419088" y="2121408"/>
            <a:ext cx="5084064" cy="9966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此前3日、14日预测均值邻近版本未通过压力收益保留门槛；较早结束时间也有失败。此次没有据结果重调7日主规则。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2920" y="3566160"/>
            <a:ext cx="5486400" cy="1965960"/>
          </a:xfrm>
          <a:prstGeom prst="rect">
            <a:avLst/>
          </a:prstGeom>
          <a:solidFill>
            <a:srgbClr val="FFFFFF"/>
          </a:solidFill>
          <a:ln w="8890">
            <a:solidFill>
              <a:srgbClr val="E2E3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3739896"/>
            <a:ext cx="50840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相对持有的跟踪风险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04088" y="4361688"/>
            <a:ext cx="5084064" cy="9966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此前主区间相对持有净值一度约70%，2024—2025年可长时间落后。期末领先不能掩盖中途机会成本与投资者承受能力。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17920" y="3566160"/>
            <a:ext cx="5486400" cy="1965960"/>
          </a:xfrm>
          <a:prstGeom prst="rect">
            <a:avLst/>
          </a:prstGeom>
          <a:solidFill>
            <a:srgbClr val="FBF1F2"/>
          </a:solidFill>
          <a:ln w="8890">
            <a:solidFill>
              <a:srgbClr val="E2E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3739896"/>
            <a:ext cx="50840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市场与执行变化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419088" y="4361688"/>
            <a:ext cx="5084064" cy="9966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现货熊市、流动性恶化、价格跳空、数据/服务中断和成本上升，都可能使本次目标失效。此前单边0.5%成本已出现失败。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0352" y="6053328"/>
            <a:ext cx="11064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历史收益与回撤仅作开发期记录；多起点复核不是收益承诺或风险硬上限。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38912" y="393192"/>
            <a:ext cx="228600" cy="347472"/>
          </a:xfrm>
          <a:prstGeom prst="rect">
            <a:avLst/>
          </a:prstGeom>
          <a:solidFill>
            <a:srgbClr val="AF101A"/>
          </a:solidFill>
          <a:ln w="12700">
            <a:solidFill>
              <a:srgbClr val="AF1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265176"/>
            <a:ext cx="1078992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AF10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包与本地一致性：模型、信号、订单三层验证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778240" y="932688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STRATEGY RESEARCH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10424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NeutralMean7  |  2026-10-20  |  开发期研究记录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0994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3429000" cy="1325880"/>
          </a:xfrm>
          <a:prstGeom prst="rect">
            <a:avLst/>
          </a:prstGeom>
          <a:solidFill>
            <a:srgbClr val="FFFFFF"/>
          </a:solidFill>
          <a:ln w="8890">
            <a:solidFill>
              <a:srgbClr val="E2E3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72184"/>
            <a:ext cx="3063240" cy="612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85800" y="219456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冻结模型最大绝对预测误差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70832" y="1325880"/>
            <a:ext cx="3429000" cy="1325880"/>
          </a:xfrm>
          <a:prstGeom prst="rect">
            <a:avLst/>
          </a:prstGeom>
          <a:solidFill>
            <a:srgbClr val="FFFFFF"/>
          </a:solidFill>
          <a:ln w="8890">
            <a:solidFill>
              <a:srgbClr val="E2E3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1472184"/>
            <a:ext cx="3063240" cy="612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完全相同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553712" y="219456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全部历史日目标仓位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0" y="1325880"/>
            <a:ext cx="3429000" cy="1325880"/>
          </a:xfrm>
          <a:prstGeom prst="rect">
            <a:avLst/>
          </a:prstGeom>
          <a:solidFill>
            <a:srgbClr val="FFFFFF"/>
          </a:solidFill>
          <a:ln w="8890">
            <a:solidFill>
              <a:srgbClr val="E2E3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1472184"/>
            <a:ext cx="3063240" cy="612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15/15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412480" y="219456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引擎对照（14窗口 + 1明细月）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2971800"/>
            <a:ext cx="5486400" cy="26060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3145536"/>
            <a:ext cx="50840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Freqtrade引擎与独立账本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04088" y="3767328"/>
            <a:ext cx="5084064" cy="16367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457笔经济订单逐项对照并审计。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时刻、方向、数量、价格与标签一致。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终值对账通过；重叠窗口重复计数。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217920" y="2971800"/>
            <a:ext cx="5486400" cy="26060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3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9088" y="3145536"/>
            <a:ext cx="50840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运行功能验证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419088" y="3767328"/>
            <a:ext cx="5084064" cy="16367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独立目录导入与重启状态恢复通过。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种子后合成行情通过功能测试。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025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历史前缀、未来扰动与篡改拒绝通过。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0352" y="6053328"/>
            <a:ext cx="11064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当前包SHA256：b81b9ca1fa73f9359b4ecf652fee19c6…；完整值见交付清单。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38912" y="393192"/>
            <a:ext cx="228600" cy="347472"/>
          </a:xfrm>
          <a:prstGeom prst="rect">
            <a:avLst/>
          </a:prstGeom>
          <a:solidFill>
            <a:srgbClr val="AF101A"/>
          </a:solidFill>
          <a:ln w="12700">
            <a:solidFill>
              <a:srgbClr val="AF1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265176"/>
            <a:ext cx="1078992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AF10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交付与复现：让每个数字有出处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778240" y="932688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STRATEGY RESEARCH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10424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NeutralMean7  |  2026-10-20  |  开发期研究记录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0994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F10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27</a:t>
            </a:r>
            <a:endParaRPr lang="en-US" sz="11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/>
        </p:nvGraphicFramePr>
        <p:xfrm>
          <a:off x="594360" y="1371600"/>
          <a:ext cx="10972800" cy="4069080"/>
        </p:xfrm>
        <a:graphic>
          <a:graphicData uri="http://schemas.openxmlformats.org/drawingml/2006/table">
            <a:tbl>
              <a:tblPr/>
              <a:tblGrid>
                <a:gridCol w="4572000"/>
                <a:gridCol w="6400800"/>
              </a:tblGrid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交付物 / 来源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10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用途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101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NeutralMean7.qstrat + install_qstrat.py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可移植包及校验安装；与研究目录解耦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multi_start_results.csv / all_equity_5m.feather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14组账户指标与完整5分钟净值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all_engine_parity.json / cash_order_audit.json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每个窗口的订单一致性与独立账本审计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bundle_functional_validation.json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模型误差、目标一致、前视/重启/篡改检查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各 *_command.json、*.log、backtests/*.zip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实际引擎命令、配置、日志、成交导出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SPEC.md / final_manifest.json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5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事先固定的复核规则与最终SHA256清单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91440" marB="91440" anchor="ctr">
                    <a:lnL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30352" y="6053328"/>
            <a:ext cx="11064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69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基准、费用、延迟、清算、主引擎与盯市频率均已明确；参考模板仅用于视觉设计。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731520" y="109728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研究结论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77240" y="242316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用冻结预测与趋势共识，在保留BTC参与度的同时减少历史回撤。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77240" y="393192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包的功能一致性已经验证；策略未来的有效性仍需真实前向观察。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77240" y="587959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NeutralMean7 v1.0.0  |  BTC现货  |  2026-10-20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6789</Words>
  <Application>WPS 演示</Application>
  <PresentationFormat>On-screen Show (4:3)</PresentationFormat>
  <Paragraphs>763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6" baseType="lpstr">
      <vt:lpstr>Arial</vt:lpstr>
      <vt:lpstr>宋体</vt:lpstr>
      <vt:lpstr>Wingdings</vt:lpstr>
      <vt:lpstr>Arial</vt:lpstr>
      <vt:lpstr>宋体</vt:lpstr>
      <vt:lpstr>微软雅黑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NeutralMean7 BTC现货策略研究与交付</dc:title>
  <dc:creator>BTC策略研究</dc:creator>
  <dc:description>generated using python-pptx</dc:description>
  <dc:subject>NeutralMean7机制、多起点回测和可移植包验证</dc:subject>
  <cp:lastModifiedBy>网络连接无响应</cp:lastModifiedBy>
  <cp:revision>2</cp:revision>
  <dcterms:created xsi:type="dcterms:W3CDTF">2013-01-27T09:14:00Z</dcterms:created>
  <dcterms:modified xsi:type="dcterms:W3CDTF">2026-10-20T15:21:44Z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CC334CD19F16469BA56C6B49A63191C1_12</vt:lpwstr>
  </property>
  <property fmtid="{D5CDD505-2E9C-101B-9397-08002B2CF9AE}" pid="3" name="KSOProductBuildVer">
    <vt:lpwstr>2052-12.1.0.29161</vt:lpwstr>
  </property>
</Properties>
</file>